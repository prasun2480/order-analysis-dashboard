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58" r:id="rId4"/>
    <p:sldId id="260" r:id="rId5"/>
    <p:sldId id="257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3" r:id="rId15"/>
    <p:sldId id="272" r:id="rId16"/>
    <p:sldId id="274" r:id="rId17"/>
    <p:sldId id="275" r:id="rId18"/>
    <p:sldId id="276" r:id="rId19"/>
    <p:sldId id="271" r:id="rId20"/>
    <p:sldId id="27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outlineViewPr>
    <p:cViewPr>
      <p:scale>
        <a:sx n="33" d="100"/>
        <a:sy n="33" d="100"/>
      </p:scale>
      <p:origin x="0" y="-456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8.jp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C7164-EBA9-951B-13F7-A081EF90FD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Domain</a:t>
            </a:r>
            <a:r>
              <a:rPr lang="en-IN" dirty="0"/>
              <a:t> : </a:t>
            </a:r>
            <a:r>
              <a:rPr lang="en-IN" dirty="0">
                <a:solidFill>
                  <a:srgbClr val="7030A0"/>
                </a:solidFill>
              </a:rPr>
              <a:t>E-Commerce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A82AB6-927E-7F7B-5EEA-9C6A970434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IN" sz="2800" dirty="0">
                <a:solidFill>
                  <a:schemeClr val="bg1">
                    <a:lumMod val="75000"/>
                    <a:lumOff val="25000"/>
                  </a:schemeClr>
                </a:solidFill>
              </a:rPr>
              <a:t>Project Name </a:t>
            </a:r>
            <a:r>
              <a:rPr lang="en-IN" sz="2800" dirty="0"/>
              <a:t>: </a:t>
            </a:r>
            <a:r>
              <a:rPr lang="en-IN" sz="2800" dirty="0" err="1">
                <a:solidFill>
                  <a:schemeClr val="bg1"/>
                </a:solidFill>
              </a:rPr>
              <a:t>Olist</a:t>
            </a:r>
            <a:r>
              <a:rPr lang="en-IN" sz="2800" dirty="0">
                <a:solidFill>
                  <a:schemeClr val="bg1"/>
                </a:solidFill>
              </a:rPr>
              <a:t> Store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6542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0A60C-3F1B-E196-7962-478AE1571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>
                <a:solidFill>
                  <a:schemeClr val="bg1"/>
                </a:solidFill>
              </a:rPr>
              <a:t>Purpose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7E5C6-C43F-045C-661B-226379AD5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>
                <a:solidFill>
                  <a:schemeClr val="bg1"/>
                </a:solidFill>
              </a:rPr>
              <a:t>To track </a:t>
            </a:r>
            <a:r>
              <a:rPr lang="en-US" sz="2800" b="1">
                <a:solidFill>
                  <a:schemeClr val="bg1"/>
                </a:solidFill>
              </a:rPr>
              <a:t>sales, profit, order volume</a:t>
            </a:r>
            <a:r>
              <a:rPr lang="en-US" sz="2800">
                <a:solidFill>
                  <a:schemeClr val="bg1"/>
                </a:solidFill>
              </a:rPr>
              <a:t> and </a:t>
            </a:r>
            <a:r>
              <a:rPr lang="en-US" sz="2800" b="1">
                <a:solidFill>
                  <a:schemeClr val="bg1"/>
                </a:solidFill>
              </a:rPr>
              <a:t>delivery performance</a:t>
            </a:r>
            <a:endParaRPr lang="en-US" sz="2800">
              <a:solidFill>
                <a:schemeClr val="bg1"/>
              </a:solidFill>
            </a:endParaRPr>
          </a:p>
          <a:p>
            <a:r>
              <a:rPr lang="en-US" sz="2800">
                <a:solidFill>
                  <a:schemeClr val="bg1"/>
                </a:solidFill>
              </a:rPr>
              <a:t>To identify </a:t>
            </a:r>
            <a:r>
              <a:rPr lang="en-US" sz="2800" b="1">
                <a:solidFill>
                  <a:schemeClr val="bg1"/>
                </a:solidFill>
              </a:rPr>
              <a:t>top customer regions</a:t>
            </a:r>
            <a:r>
              <a:rPr lang="en-US" sz="2800">
                <a:solidFill>
                  <a:schemeClr val="bg1"/>
                </a:solidFill>
              </a:rPr>
              <a:t> and </a:t>
            </a:r>
            <a:r>
              <a:rPr lang="en-US" sz="2800" b="1">
                <a:solidFill>
                  <a:schemeClr val="bg1"/>
                </a:solidFill>
              </a:rPr>
              <a:t>profitable categories</a:t>
            </a:r>
            <a:endParaRPr lang="en-US" sz="2800">
              <a:solidFill>
                <a:schemeClr val="bg1"/>
              </a:solidFill>
            </a:endParaRPr>
          </a:p>
          <a:p>
            <a:r>
              <a:rPr lang="en-US" sz="2800">
                <a:solidFill>
                  <a:schemeClr val="bg1"/>
                </a:solidFill>
              </a:rPr>
              <a:t>To analyze </a:t>
            </a:r>
            <a:r>
              <a:rPr lang="en-US" sz="2800" b="1">
                <a:solidFill>
                  <a:schemeClr val="bg1"/>
                </a:solidFill>
              </a:rPr>
              <a:t>customer satisfaction</a:t>
            </a:r>
            <a:r>
              <a:rPr lang="en-US" sz="2800">
                <a:solidFill>
                  <a:schemeClr val="bg1"/>
                </a:solidFill>
              </a:rPr>
              <a:t> through delivery &amp; review metrics</a:t>
            </a:r>
          </a:p>
          <a:p>
            <a:r>
              <a:rPr lang="en-US" sz="2800">
                <a:solidFill>
                  <a:schemeClr val="bg1"/>
                </a:solidFill>
              </a:rPr>
              <a:t>To support business decisions for </a:t>
            </a:r>
            <a:r>
              <a:rPr lang="en-US" sz="2800" b="1">
                <a:solidFill>
                  <a:schemeClr val="bg1"/>
                </a:solidFill>
              </a:rPr>
              <a:t>growth and operational efficiency</a:t>
            </a:r>
            <a:endParaRPr lang="en-US" sz="2800">
              <a:solidFill>
                <a:schemeClr val="bg1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6807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EC7BB-6140-EE5E-B391-2364FC786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705" y="609601"/>
            <a:ext cx="5411411" cy="1639884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Agenda</a:t>
            </a:r>
            <a:br>
              <a:rPr lang="en-IN" dirty="0"/>
            </a:b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5DBE5C8-5973-DA27-D4A9-5429BC3499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13987" y="1738209"/>
            <a:ext cx="4984955" cy="354171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06B3E3-6F55-0705-E71B-BCDA35C541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5411411" cy="3541714"/>
          </a:xfrm>
        </p:spPr>
        <p:txBody>
          <a:bodyPr>
            <a:normAutofit/>
          </a:bodyPr>
          <a:lstStyle/>
          <a:p>
            <a:pPr hangingPunct="0">
              <a:lnSpc>
                <a:spcPct val="200000"/>
              </a:lnSpc>
              <a:spcBef>
                <a:spcPts val="0"/>
              </a:spcBef>
              <a:buSzTx/>
            </a:pPr>
            <a:r>
              <a:rPr lang="en-US" sz="2400" dirty="0">
                <a:solidFill>
                  <a:schemeClr val="bg1"/>
                </a:solidFill>
              </a:rPr>
              <a:t>1️⃣ KPI Overview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2️⃣ Chart-wise Insights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3️⃣ Observations &amp; Key Findings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4️⃣ Improvement Areas &amp; Action Plan</a:t>
            </a:r>
            <a:endParaRPr lang="en-IN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874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EA25E-0D6D-82C6-C0CC-2AC90C78A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Purpose of Creating this Dashboard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DB1A77-113C-61D9-E0C1-4F1231987694}"/>
              </a:ext>
            </a:extLst>
          </p:cNvPr>
          <p:cNvSpPr txBox="1"/>
          <p:nvPr/>
        </p:nvSpPr>
        <p:spPr>
          <a:xfrm>
            <a:off x="1428135" y="2003042"/>
            <a:ext cx="9905998" cy="38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4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To monitor key business performance indicators in one place.</a:t>
            </a:r>
          </a:p>
          <a:p>
            <a:pPr marL="80010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US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80010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400" kern="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To identify top-selling categories and high-value customer segments.</a:t>
            </a:r>
          </a:p>
          <a:p>
            <a:pPr marL="80010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US" sz="2400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80010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400" kern="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To understand delivery efficiency and review performance.</a:t>
            </a:r>
          </a:p>
          <a:p>
            <a:pPr marL="80010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US" sz="2400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80010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400" kern="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To support data-driven decisions for sales growth and operations improvement.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528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Pentagon 1">
            <a:extLst>
              <a:ext uri="{FF2B5EF4-FFF2-40B4-BE49-F238E27FC236}">
                <a16:creationId xmlns:a16="http://schemas.microsoft.com/office/drawing/2014/main" id="{7F20C911-FED4-49B8-A9E9-E2B5A0960F1A}"/>
              </a:ext>
            </a:extLst>
          </p:cNvPr>
          <p:cNvSpPr/>
          <p:nvPr/>
        </p:nvSpPr>
        <p:spPr>
          <a:xfrm>
            <a:off x="403122" y="2182761"/>
            <a:ext cx="2030363" cy="904568"/>
          </a:xfrm>
          <a:prstGeom prst="homePlate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bg2"/>
            </a:solidFill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1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0CE4AD95-57A2-3F74-F72C-1063736ACAC3}"/>
              </a:ext>
            </a:extLst>
          </p:cNvPr>
          <p:cNvSpPr/>
          <p:nvPr/>
        </p:nvSpPr>
        <p:spPr>
          <a:xfrm>
            <a:off x="7752745" y="2182761"/>
            <a:ext cx="2089359" cy="904568"/>
          </a:xfrm>
          <a:prstGeom prst="homePlate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bg2"/>
            </a:solidFill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4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618F3545-C711-EC07-E1B9-C01336428B1B}"/>
              </a:ext>
            </a:extLst>
          </p:cNvPr>
          <p:cNvSpPr/>
          <p:nvPr/>
        </p:nvSpPr>
        <p:spPr>
          <a:xfrm>
            <a:off x="10200982" y="2182761"/>
            <a:ext cx="1927120" cy="904568"/>
          </a:xfrm>
          <a:prstGeom prst="homePlate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bg2"/>
            </a:solidFill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5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6E11A7EC-5144-C5CD-32A5-2BE3D25399CE}"/>
              </a:ext>
            </a:extLst>
          </p:cNvPr>
          <p:cNvSpPr/>
          <p:nvPr/>
        </p:nvSpPr>
        <p:spPr>
          <a:xfrm>
            <a:off x="5324169" y="2182761"/>
            <a:ext cx="2069698" cy="904568"/>
          </a:xfrm>
          <a:prstGeom prst="homePlate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bg2"/>
            </a:solidFill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KPI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9ACBCD28-6D2F-6889-2FE6-C367B5050B03}"/>
              </a:ext>
            </a:extLst>
          </p:cNvPr>
          <p:cNvSpPr/>
          <p:nvPr/>
        </p:nvSpPr>
        <p:spPr>
          <a:xfrm>
            <a:off x="2792363" y="2182761"/>
            <a:ext cx="2172928" cy="904568"/>
          </a:xfrm>
          <a:prstGeom prst="homePlate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bg2"/>
            </a:solidFill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2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733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D2478-DF2A-D5CC-D6F9-100AA6252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329" y="1068901"/>
            <a:ext cx="3112451" cy="450383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KPIs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A971F-9862-C2C5-165F-90AFA87198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4446" y="1658143"/>
            <a:ext cx="4878389" cy="3541714"/>
          </a:xfr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KPI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Payment Value – 16.47M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Total Price – 12.94M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Total Deliveries – 1.31M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Total Profit – 3.53M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1885AE-2B2D-3954-5E88-79D0E90D0D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8025" y="1658143"/>
            <a:ext cx="5449529" cy="3541714"/>
          </a:xfr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Insight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High sales volume achieved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Strong order revenue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Delivery operations are active &amp; scaled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Business generating good profit margin</a:t>
            </a:r>
          </a:p>
          <a:p>
            <a:endParaRPr lang="en-IN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CAEACEF-74E8-F283-596C-FC681EF054FD}"/>
              </a:ext>
            </a:extLst>
          </p:cNvPr>
          <p:cNvCxnSpPr>
            <a:cxnSpLocks/>
          </p:cNvCxnSpPr>
          <p:nvPr/>
        </p:nvCxnSpPr>
        <p:spPr>
          <a:xfrm>
            <a:off x="939636" y="2154575"/>
            <a:ext cx="1032791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9C3B8E4-1A3E-F489-F4DA-B0FCBB6B0ADF}"/>
              </a:ext>
            </a:extLst>
          </p:cNvPr>
          <p:cNvSpPr txBox="1"/>
          <p:nvPr/>
        </p:nvSpPr>
        <p:spPr>
          <a:xfrm>
            <a:off x="1361112" y="5419112"/>
            <a:ext cx="9714271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📌 Conclusion: The business is </a:t>
            </a:r>
            <a:r>
              <a:rPr lang="en-US" b="1" dirty="0"/>
              <a:t>financially strong</a:t>
            </a:r>
            <a:r>
              <a:rPr lang="en-US" dirty="0"/>
              <a:t>, but improving efficiency could increase profits further.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732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0143D-2814-EF76-4327-EAAA37E4C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4935" y="1031648"/>
            <a:ext cx="6082129" cy="532446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Review Score by Payment Type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26A42462-68A8-7177-B208-FBD013EBBAF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tretch>
            <a:fillRect/>
          </a:stretch>
        </p:blipFill>
        <p:spPr>
          <a:xfrm>
            <a:off x="7243861" y="1719000"/>
            <a:ext cx="4013419" cy="34200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Rectangle 1">
            <a:extLst>
              <a:ext uri="{FF2B5EF4-FFF2-40B4-BE49-F238E27FC236}">
                <a16:creationId xmlns:a16="http://schemas.microsoft.com/office/drawing/2014/main" id="{AF73DE2C-D90A-1083-7412-3A132AD87A47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212533" y="1753968"/>
            <a:ext cx="5934508" cy="33480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Most reviews come from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Card &amp; </a:t>
            </a:r>
            <a:r>
              <a:rPr lang="en-US" alt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  <a:t>Credit Card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payments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Indicates customers prefer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trusted and easy payment methods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Cash-based payment users provide fewer reviews → less feedback insight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FA696B-9384-3C66-D227-7BDEFDFC0051}"/>
              </a:ext>
            </a:extLst>
          </p:cNvPr>
          <p:cNvSpPr txBox="1"/>
          <p:nvPr/>
        </p:nvSpPr>
        <p:spPr>
          <a:xfrm>
            <a:off x="2768071" y="5293906"/>
            <a:ext cx="6655856" cy="3960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📌 Suggestion: Add incentives for feedback from all payment types.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7871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AE4DF-EE17-C267-BE16-12DB7421B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3493" y="1066799"/>
            <a:ext cx="7085011" cy="580105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Avg Delivery Days by Category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676BFB3-E867-238F-456C-575FC7FEA9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94229" y="1846970"/>
            <a:ext cx="3542506" cy="337483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05A8BD-AEB9-D0B4-672C-56C45512751C}"/>
              </a:ext>
            </a:extLst>
          </p:cNvPr>
          <p:cNvSpPr txBox="1"/>
          <p:nvPr/>
        </p:nvSpPr>
        <p:spPr>
          <a:xfrm>
            <a:off x="1829233" y="5421868"/>
            <a:ext cx="7787148" cy="36933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📌 Bottleneck identified → </a:t>
            </a:r>
            <a:r>
              <a:rPr lang="en-US" b="1" dirty="0"/>
              <a:t>Improve logistics in pet category</a:t>
            </a:r>
            <a:r>
              <a:rPr lang="en-US" dirty="0"/>
              <a:t> to boost satisfaction.</a:t>
            </a:r>
            <a:endParaRPr lang="en-IN" dirty="0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2946F2CA-D690-7078-7716-6DD38AED346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225898" y="1846970"/>
            <a:ext cx="5261986" cy="3348000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pet_shop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has the longest delivery time 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11 days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much higher than other categories.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This indicates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logistics delay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—possibly due to stock issues or slower supplier dispatch.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Longer delivery impacts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customer satisfaction and review scores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89323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B3A6D-7B69-684F-F73C-5404DB79F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9649" y="1075085"/>
            <a:ext cx="8852701" cy="530941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Profit by Product Category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AFBB0E5-FD5C-AD49-B1F4-50DD463722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5999" y="1868128"/>
            <a:ext cx="4725059" cy="35002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F10AA9F-8E21-6DC6-DE2A-98598D541A05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012722" y="1868128"/>
            <a:ext cx="4975123" cy="34920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Cama_mesa_banho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earns highest profit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Beleza_saude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&amp;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Informatica_accessorios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also contribute well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Some categories show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low or negligible profits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A44751-3120-A33E-3950-27C662B63514}"/>
              </a:ext>
            </a:extLst>
          </p:cNvPr>
          <p:cNvSpPr txBox="1"/>
          <p:nvPr/>
        </p:nvSpPr>
        <p:spPr>
          <a:xfrm>
            <a:off x="2481726" y="5598249"/>
            <a:ext cx="7228545" cy="36933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📌 Focus more on </a:t>
            </a:r>
            <a:r>
              <a:rPr lang="en-US" b="1" dirty="0"/>
              <a:t>high-profit categories</a:t>
            </a:r>
            <a:r>
              <a:rPr lang="en-US" dirty="0"/>
              <a:t> + revisit pricing for low-profit ones.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5932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235CF-5399-B0DB-4C2A-862753831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255" y="76233"/>
            <a:ext cx="4636263" cy="617328"/>
          </a:xfr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Top 5 Customer Cities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95E33E2A-75D8-266E-F13C-0D2EAD725FA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tretch>
            <a:fillRect/>
          </a:stretch>
        </p:blipFill>
        <p:spPr>
          <a:xfrm>
            <a:off x="5604386" y="793756"/>
            <a:ext cx="5805835" cy="27142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7612BCA8-C9B4-06DC-0B6F-CE507A7F0DB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066446" y="790168"/>
            <a:ext cx="4432624" cy="2308324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São Paulo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the main market (16.4K orders)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Rio de Janeiro also strong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Other cities have huge growth potential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expand campaigns to emerging cities.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E6F2DF-92EE-49B4-CB7F-AE828866217F}"/>
              </a:ext>
            </a:extLst>
          </p:cNvPr>
          <p:cNvSpPr txBox="1"/>
          <p:nvPr/>
        </p:nvSpPr>
        <p:spPr>
          <a:xfrm>
            <a:off x="862807" y="3138638"/>
            <a:ext cx="4636263" cy="36933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📌 Marketing should </a:t>
            </a:r>
            <a:r>
              <a:rPr lang="en-US" b="1" dirty="0"/>
              <a:t>focus more on top 2 cities</a:t>
            </a:r>
            <a:endParaRPr lang="en-IN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D856A15-CA28-E739-53C4-769305C97A14}"/>
              </a:ext>
            </a:extLst>
          </p:cNvPr>
          <p:cNvSpPr txBox="1">
            <a:spLocks/>
          </p:cNvSpPr>
          <p:nvPr/>
        </p:nvSpPr>
        <p:spPr>
          <a:xfrm>
            <a:off x="3286254" y="3632506"/>
            <a:ext cx="4636263" cy="478629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b="1" dirty="0">
                <a:solidFill>
                  <a:schemeClr val="bg1"/>
                </a:solidFill>
              </a:rPr>
              <a:t>Weekend vs Weekday Orders</a:t>
            </a: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5FA88486-6560-CEA8-5896-F0F8DC30D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6948" y="4235671"/>
            <a:ext cx="3345399" cy="12960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Weekdays = 77%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of orders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Weekend orders only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23%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18A3905-A05D-3658-F827-CC4B553B0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4324" y="4235671"/>
            <a:ext cx="3345399" cy="24197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BBF5CD9-64FD-1A31-91F5-6710060018E5}"/>
              </a:ext>
            </a:extLst>
          </p:cNvPr>
          <p:cNvSpPr txBox="1"/>
          <p:nvPr/>
        </p:nvSpPr>
        <p:spPr>
          <a:xfrm>
            <a:off x="2054940" y="5656207"/>
            <a:ext cx="3629413" cy="92333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📌 Good opportunity → Weekend  promotions &amp; flash sales to increase sales.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951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0232A6-061A-DA88-AF47-0E978ABCA48E}"/>
              </a:ext>
            </a:extLst>
          </p:cNvPr>
          <p:cNvSpPr txBox="1"/>
          <p:nvPr/>
        </p:nvSpPr>
        <p:spPr>
          <a:xfrm>
            <a:off x="4229099" y="93384"/>
            <a:ext cx="3910781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Avg Payment &amp; Price by City</a:t>
            </a: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21B2A6-7AB9-4DB4-BA80-DBA2BC0079A6}"/>
              </a:ext>
            </a:extLst>
          </p:cNvPr>
          <p:cNvSpPr txBox="1"/>
          <p:nvPr/>
        </p:nvSpPr>
        <p:spPr>
          <a:xfrm>
            <a:off x="1005472" y="3505682"/>
            <a:ext cx="5351208" cy="36933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/>
              <a:t>📌 Retain high-value customers with </a:t>
            </a:r>
            <a:r>
              <a:rPr lang="en-US" b="1" dirty="0"/>
              <a:t>loyalty programs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A42A27-75E0-13E7-5A22-799B2E93E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117" y="629982"/>
            <a:ext cx="3907728" cy="31722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0C5BD00-1095-1D43-D203-CC925E5E3044}"/>
              </a:ext>
            </a:extLst>
          </p:cNvPr>
          <p:cNvSpPr txBox="1"/>
          <p:nvPr/>
        </p:nvSpPr>
        <p:spPr>
          <a:xfrm>
            <a:off x="3674802" y="3947512"/>
            <a:ext cx="4225413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Delivery Days vs Review Score</a:t>
            </a: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554A59-5288-3CC0-0A22-B82B61D3945F}"/>
              </a:ext>
            </a:extLst>
          </p:cNvPr>
          <p:cNvSpPr txBox="1"/>
          <p:nvPr/>
        </p:nvSpPr>
        <p:spPr>
          <a:xfrm>
            <a:off x="1005472" y="6116433"/>
            <a:ext cx="5408972" cy="646331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/>
              <a:t>📌 Reduce delivery delays → </a:t>
            </a:r>
            <a:r>
              <a:rPr lang="en-US" b="1" dirty="0"/>
              <a:t>Direct improvement in customer ratings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7072DE2-5F97-4281-58EB-C70D89054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621" y="4481675"/>
            <a:ext cx="4752671" cy="2281089"/>
          </a:xfrm>
          <a:prstGeom prst="rect">
            <a:avLst/>
          </a:prstGeom>
        </p:spPr>
      </p:pic>
      <p:sp>
        <p:nvSpPr>
          <p:cNvPr id="17" name="Rectangle 4">
            <a:extLst>
              <a:ext uri="{FF2B5EF4-FFF2-40B4-BE49-F238E27FC236}">
                <a16:creationId xmlns:a16="http://schemas.microsoft.com/office/drawing/2014/main" id="{6CD8A92F-B717-4C97-7B4B-534053ABFE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964" y="629982"/>
            <a:ext cx="5787676" cy="280076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São Paulo customers pay the highest average order value, showing strong spending capability.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Indicates a high-value customer segment that should be prioritized in marketing and retention.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Higher spending may reflect better product availability or stronger brand trust in this region.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Other cities show lower averages, revealing potential markets for targeted promotions.</a:t>
            </a:r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B54045A6-0643-9C6D-A757-2387E62D5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707" y="4477975"/>
            <a:ext cx="5476443" cy="156966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Fast delivery (1–3 days)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receives consistently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higher review scores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Delays above 5 days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lead to noticeable drops in customer ratings.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Shows a clear link: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delivery speed directly influences customer satisfaction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60544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91E1F-A183-0A02-B0AB-581BFE332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72" y="108155"/>
            <a:ext cx="9905955" cy="457202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Key Findings (Shortcomings from the Data)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B118C0-D9B2-33AB-05C2-0B29F01D33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21573" y="755146"/>
            <a:ext cx="9905955" cy="457202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These are business gaps highlighted by the dashboard: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1167EE-FBFF-79C0-9A4E-143D30712CB2}"/>
              </a:ext>
            </a:extLst>
          </p:cNvPr>
          <p:cNvSpPr txBox="1"/>
          <p:nvPr/>
        </p:nvSpPr>
        <p:spPr>
          <a:xfrm>
            <a:off x="841359" y="1859339"/>
            <a:ext cx="4787396" cy="313932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>
                <a:solidFill>
                  <a:schemeClr val="bg1"/>
                </a:solidFill>
              </a:rPr>
              <a:t>Issue Detected from Data</a:t>
            </a:r>
          </a:p>
          <a:p>
            <a:pPr algn="ctr">
              <a:buNone/>
            </a:pPr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Late delivery in </a:t>
            </a:r>
            <a:r>
              <a:rPr lang="en-US" dirty="0" err="1">
                <a:solidFill>
                  <a:schemeClr val="bg1"/>
                </a:solidFill>
              </a:rPr>
              <a:t>pet_shop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Very low weekend sales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Many cities have small order share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Some categories low profit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Reviews mostly from </a:t>
            </a:r>
            <a:r>
              <a:rPr lang="en-US">
                <a:solidFill>
                  <a:schemeClr val="bg1"/>
                </a:solidFill>
              </a:rPr>
              <a:t>card/Credit card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39F759-0BC8-553E-535C-20412BEB226F}"/>
              </a:ext>
            </a:extLst>
          </p:cNvPr>
          <p:cNvSpPr txBox="1"/>
          <p:nvPr/>
        </p:nvSpPr>
        <p:spPr>
          <a:xfrm>
            <a:off x="6251749" y="1859339"/>
            <a:ext cx="5458470" cy="313932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>
                <a:solidFill>
                  <a:schemeClr val="bg1"/>
                </a:solidFill>
              </a:rPr>
              <a:t>What It Means</a:t>
            </a:r>
          </a:p>
          <a:p>
            <a:pPr algn="ctr">
              <a:buNone/>
            </a:pPr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Customers unhappy → rating &amp; repeat purchase drop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Missing sales opportunities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Market expansion needed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Poor pricing or high cost structure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Weak feedback from other users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40DF915-AD26-44D5-D7EC-B7CECC7278F0}"/>
              </a:ext>
            </a:extLst>
          </p:cNvPr>
          <p:cNvSpPr/>
          <p:nvPr/>
        </p:nvSpPr>
        <p:spPr>
          <a:xfrm>
            <a:off x="5730427" y="3428999"/>
            <a:ext cx="462116" cy="373626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innerShdw blurRad="63500" dist="50800" dir="10800000">
                  <a:prstClr val="black">
                    <a:alpha val="50000"/>
                  </a:prst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75085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9C6E4-4DCC-6FDB-305C-E17A1BB81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F7D37-9900-9E3A-B23A-B61A0F28A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7713" y="215080"/>
            <a:ext cx="9905955" cy="457202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IN" dirty="0"/>
              <a:t>Improvement Plan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D1056C2A-688D-1DEA-FE8C-CBA9E16B82E1}"/>
              </a:ext>
            </a:extLst>
          </p:cNvPr>
          <p:cNvSpPr/>
          <p:nvPr/>
        </p:nvSpPr>
        <p:spPr>
          <a:xfrm>
            <a:off x="5789633" y="3242187"/>
            <a:ext cx="462116" cy="373626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innerShdw blurRad="63500" dist="50800" dir="108000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D3FACC-C64A-6FD2-BCFC-E6CBD6EDF31F}"/>
              </a:ext>
            </a:extLst>
          </p:cNvPr>
          <p:cNvSpPr txBox="1"/>
          <p:nvPr/>
        </p:nvSpPr>
        <p:spPr>
          <a:xfrm>
            <a:off x="830149" y="987768"/>
            <a:ext cx="4879045" cy="4824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Area of Concern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endParaRPr lang="en-IN" sz="18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Slow shipping in pet category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IN" sz="18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Low weekend orders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IN" sz="18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Profit gaps in product categories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IN" sz="18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Limited customer locations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IN" sz="18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Limited review feedback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1E8407-8A68-B910-F974-FEB1DDD53FAC}"/>
              </a:ext>
            </a:extLst>
          </p:cNvPr>
          <p:cNvSpPr txBox="1"/>
          <p:nvPr/>
        </p:nvSpPr>
        <p:spPr>
          <a:xfrm>
            <a:off x="6251749" y="987768"/>
            <a:ext cx="5310986" cy="475264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Suggested Action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endParaRPr lang="en-IN" sz="18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	Improve logistics: faster couriers, better inventory placement, or local warehouses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IN" sz="18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	Launch weekend-only discounts, flash sales, and limited-time offers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8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	Re-evaluate pricing, reduce supplier costs, and optimize product mix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IN" sz="18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	Run geo-targeted ads and expand marketing in smaller/emerging cities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B6C87C2-271C-4CE5-12AE-A5EF57564C26}"/>
              </a:ext>
            </a:extLst>
          </p:cNvPr>
          <p:cNvCxnSpPr/>
          <p:nvPr/>
        </p:nvCxnSpPr>
        <p:spPr>
          <a:xfrm>
            <a:off x="830149" y="1376516"/>
            <a:ext cx="487904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A399E34-5FD5-2609-A0CE-9E7BB351AC77}"/>
              </a:ext>
            </a:extLst>
          </p:cNvPr>
          <p:cNvCxnSpPr>
            <a:cxnSpLocks/>
          </p:cNvCxnSpPr>
          <p:nvPr/>
        </p:nvCxnSpPr>
        <p:spPr>
          <a:xfrm>
            <a:off x="6251749" y="1376516"/>
            <a:ext cx="531098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9922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B748FD-4894-314E-F3A3-A6416253B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0774"/>
            <a:ext cx="12192000" cy="63172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5661DBF-4474-D302-A4DC-5D20B276D8A6}"/>
              </a:ext>
            </a:extLst>
          </p:cNvPr>
          <p:cNvSpPr txBox="1"/>
          <p:nvPr/>
        </p:nvSpPr>
        <p:spPr>
          <a:xfrm>
            <a:off x="678426" y="-44001"/>
            <a:ext cx="108351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Excel Dashboard</a:t>
            </a:r>
          </a:p>
        </p:txBody>
      </p:sp>
    </p:spTree>
    <p:extLst>
      <p:ext uri="{BB962C8B-B14F-4D97-AF65-F5344CB8AC3E}">
        <p14:creationId xmlns:p14="http://schemas.microsoft.com/office/powerpoint/2010/main" val="3697258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543C8E-30AC-E783-4266-74015BE5A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9264"/>
            <a:ext cx="12192000" cy="62287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E786A1-A445-DE25-5864-AD08D37EC9AE}"/>
              </a:ext>
            </a:extLst>
          </p:cNvPr>
          <p:cNvSpPr txBox="1"/>
          <p:nvPr/>
        </p:nvSpPr>
        <p:spPr>
          <a:xfrm>
            <a:off x="1347019" y="-17067"/>
            <a:ext cx="90161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bg1"/>
                </a:solidFill>
              </a:rPr>
              <a:t>Power BI Dashboard</a:t>
            </a:r>
          </a:p>
        </p:txBody>
      </p:sp>
    </p:spTree>
    <p:extLst>
      <p:ext uri="{BB962C8B-B14F-4D97-AF65-F5344CB8AC3E}">
        <p14:creationId xmlns:p14="http://schemas.microsoft.com/office/powerpoint/2010/main" val="226766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129DD1-DA23-BEC5-AAED-4784A86FC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1947"/>
            <a:ext cx="12192000" cy="63500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6CB7EB-042B-59DB-EF92-2A517B46904E}"/>
              </a:ext>
            </a:extLst>
          </p:cNvPr>
          <p:cNvSpPr txBox="1"/>
          <p:nvPr/>
        </p:nvSpPr>
        <p:spPr>
          <a:xfrm>
            <a:off x="658761" y="-112828"/>
            <a:ext cx="108744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Tableau Dashboard</a:t>
            </a:r>
          </a:p>
        </p:txBody>
      </p:sp>
    </p:spTree>
    <p:extLst>
      <p:ext uri="{BB962C8B-B14F-4D97-AF65-F5344CB8AC3E}">
        <p14:creationId xmlns:p14="http://schemas.microsoft.com/office/powerpoint/2010/main" val="209306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A1B1CE12-70FC-C49E-91B5-B526265B6544}"/>
              </a:ext>
            </a:extLst>
          </p:cNvPr>
          <p:cNvPicPr>
            <a:picLocks noGrp="1" noChangeAspect="1"/>
          </p:cNvPicPr>
          <p:nvPr>
            <p:ph type="pic" idx="15"/>
          </p:nvPr>
        </p:nvPicPr>
        <p:blipFill>
          <a:blip r:embed="rId2"/>
          <a:srcRect t="4419" b="4419"/>
          <a:stretch>
            <a:fillRect/>
          </a:stretch>
        </p:blipFill>
        <p:spPr>
          <a:xfrm>
            <a:off x="168018" y="1002886"/>
            <a:ext cx="6527750" cy="573221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5C0C6875-A245-7A19-37AE-EAA73F6E9461}"/>
              </a:ext>
            </a:extLst>
          </p:cNvPr>
          <p:cNvPicPr>
            <a:picLocks noGrp="1" noChangeAspect="1"/>
          </p:cNvPicPr>
          <p:nvPr>
            <p:ph type="pic" idx="21"/>
          </p:nvPr>
        </p:nvPicPr>
        <p:blipFill>
          <a:blip r:embed="rId3"/>
          <a:srcRect t="9350" b="9350"/>
          <a:stretch>
            <a:fillRect/>
          </a:stretch>
        </p:blipFill>
        <p:spPr>
          <a:xfrm>
            <a:off x="6794090" y="1071716"/>
            <a:ext cx="5229892" cy="56633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2611556-2C74-DEAA-BD75-07B41B39C1BF}"/>
              </a:ext>
            </a:extLst>
          </p:cNvPr>
          <p:cNvSpPr txBox="1"/>
          <p:nvPr/>
        </p:nvSpPr>
        <p:spPr>
          <a:xfrm>
            <a:off x="973394" y="-53835"/>
            <a:ext cx="92619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SQL Queries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4685C5-ADCE-30E0-4092-1B9238366888}"/>
              </a:ext>
            </a:extLst>
          </p:cNvPr>
          <p:cNvSpPr txBox="1"/>
          <p:nvPr/>
        </p:nvSpPr>
        <p:spPr>
          <a:xfrm>
            <a:off x="2723536" y="498188"/>
            <a:ext cx="924232" cy="46166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KPI-1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101ECE-CFDF-9AD1-C6E0-18A8CBBD6974}"/>
              </a:ext>
            </a:extLst>
          </p:cNvPr>
          <p:cNvSpPr txBox="1"/>
          <p:nvPr/>
        </p:nvSpPr>
        <p:spPr>
          <a:xfrm>
            <a:off x="9006348" y="498187"/>
            <a:ext cx="924232" cy="46166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KPI-2</a:t>
            </a:r>
            <a:endParaRPr lang="en-IN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13231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BF10B-21BE-3A27-3736-D389C4775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62AC6322-880F-BE49-52CA-F892AB753840}"/>
              </a:ext>
            </a:extLst>
          </p:cNvPr>
          <p:cNvSpPr txBox="1"/>
          <p:nvPr/>
        </p:nvSpPr>
        <p:spPr>
          <a:xfrm>
            <a:off x="2483079" y="46348"/>
            <a:ext cx="924232" cy="46166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KPI-3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9E39E5-C98C-C053-3634-4C03FEAAD207}"/>
              </a:ext>
            </a:extLst>
          </p:cNvPr>
          <p:cNvSpPr txBox="1"/>
          <p:nvPr/>
        </p:nvSpPr>
        <p:spPr>
          <a:xfrm>
            <a:off x="8622890" y="46344"/>
            <a:ext cx="924232" cy="46166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KPI-5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427C7F8B-B413-9117-B0D7-A66FE68082D0}"/>
              </a:ext>
            </a:extLst>
          </p:cNvPr>
          <p:cNvPicPr>
            <a:picLocks noGrp="1" noChangeAspect="1"/>
          </p:cNvPicPr>
          <p:nvPr>
            <p:ph type="pic" idx="15"/>
          </p:nvPr>
        </p:nvPicPr>
        <p:blipFill>
          <a:blip r:embed="rId2"/>
          <a:srcRect t="13591" b="13591"/>
          <a:stretch>
            <a:fillRect/>
          </a:stretch>
        </p:blipFill>
        <p:spPr>
          <a:xfrm>
            <a:off x="187681" y="598371"/>
            <a:ext cx="5515027" cy="32628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48287411-9EB5-55CC-FF5E-B9951D167AF5}"/>
              </a:ext>
            </a:extLst>
          </p:cNvPr>
          <p:cNvPicPr>
            <a:picLocks noGrp="1" noChangeAspect="1"/>
          </p:cNvPicPr>
          <p:nvPr>
            <p:ph type="pic" idx="21"/>
          </p:nvPr>
        </p:nvPicPr>
        <p:blipFill>
          <a:blip r:embed="rId3"/>
          <a:srcRect t="8387" b="8387"/>
          <a:stretch>
            <a:fillRect/>
          </a:stretch>
        </p:blipFill>
        <p:spPr>
          <a:xfrm>
            <a:off x="3407311" y="3951624"/>
            <a:ext cx="8602357" cy="279025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1494986-845F-6E88-DB2E-7CB773A84A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2495" y="598371"/>
            <a:ext cx="6213028" cy="32628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B581ADEB-5808-96E2-0BF6-90A78EDC65EA}"/>
              </a:ext>
            </a:extLst>
          </p:cNvPr>
          <p:cNvSpPr/>
          <p:nvPr/>
        </p:nvSpPr>
        <p:spPr>
          <a:xfrm>
            <a:off x="2104103" y="5142271"/>
            <a:ext cx="1219199" cy="747252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KPI- 4</a:t>
            </a:r>
            <a:endParaRPr lang="en-IN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02576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96422-C6DA-3974-A961-A4F2A6433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5851" y="266826"/>
            <a:ext cx="9831560" cy="657622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9DA40A6-88AD-8C81-39D3-D39BE159F1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21316" y="1036596"/>
            <a:ext cx="10233321" cy="452431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normalizeH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</a:rPr>
              <a:t>The business shows strong revenue, solid profit margins, and a large active customer base, especially in top cities like São Paulo.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i="0" u="none" strike="noStrike" normalizeH="0" baseline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normalizeH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</a:rPr>
              <a:t>Delivery speed remains a major factor influencing customer satisfaction, ratings, and repeat purchases.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i="0" u="none" strike="noStrike" normalizeH="0" baseline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normalizeH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</a:rPr>
              <a:t>Expanding market reach beyond dominant cities can unlock new growth opportunities.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i="0" u="none" strike="noStrike" normalizeH="0" baseline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normalizeH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</a:rPr>
              <a:t>By improving logistics efficiency and strengthening targeted marketing, the business can achieve higher sales, better customer retention, and overall sustainable growth.</a:t>
            </a:r>
          </a:p>
        </p:txBody>
      </p:sp>
    </p:spTree>
    <p:extLst>
      <p:ext uri="{BB962C8B-B14F-4D97-AF65-F5344CB8AC3E}">
        <p14:creationId xmlns:p14="http://schemas.microsoft.com/office/powerpoint/2010/main" val="41734536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EC3E4-C0B8-B699-F14B-6719B1EC2B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2625213"/>
            <a:ext cx="8791575" cy="884750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457368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340</TotalTime>
  <Words>764</Words>
  <Application>Microsoft Office PowerPoint</Application>
  <PresentationFormat>Widescreen</PresentationFormat>
  <Paragraphs>144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Times New Roman</vt:lpstr>
      <vt:lpstr>Tw Cen MT</vt:lpstr>
      <vt:lpstr>Wingdings</vt:lpstr>
      <vt:lpstr>Circuit</vt:lpstr>
      <vt:lpstr>Domain : E-Commerce</vt:lpstr>
      <vt:lpstr>Purpose</vt:lpstr>
      <vt:lpstr>Agenda </vt:lpstr>
      <vt:lpstr>Purpose of Creating this Dashboard</vt:lpstr>
      <vt:lpstr>PowerPoint Presentation</vt:lpstr>
      <vt:lpstr>KPIs Overview</vt:lpstr>
      <vt:lpstr>Review Score by Payment Type</vt:lpstr>
      <vt:lpstr>Avg Delivery Days by Category</vt:lpstr>
      <vt:lpstr>Profit by Product Category</vt:lpstr>
      <vt:lpstr>Top 5 Customer Cities</vt:lpstr>
      <vt:lpstr>PowerPoint Presentation</vt:lpstr>
      <vt:lpstr>Key Findings (Shortcomings from the Data)</vt:lpstr>
      <vt:lpstr>Improvement Plan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prasun bhattacharya</dc:creator>
  <cp:lastModifiedBy>prasun bhattacharya</cp:lastModifiedBy>
  <cp:revision>12</cp:revision>
  <dcterms:created xsi:type="dcterms:W3CDTF">2025-12-10T17:15:40Z</dcterms:created>
  <dcterms:modified xsi:type="dcterms:W3CDTF">2025-12-11T19:45:14Z</dcterms:modified>
</cp:coreProperties>
</file>